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62" r:id="rId6"/>
    <p:sldId id="264" r:id="rId7"/>
    <p:sldId id="259" r:id="rId8"/>
    <p:sldId id="261" r:id="rId9"/>
    <p:sldId id="260"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5" d="100"/>
          <a:sy n="75" d="100"/>
        </p:scale>
        <p:origin x="85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F9AE-9D7A-03D4-0AC7-032263B2F1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A47F2E-42DB-58E3-D7DC-88365F469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257D62-5016-D9BC-0A8E-0AC423C9CDCB}"/>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5" name="Footer Placeholder 4">
            <a:extLst>
              <a:ext uri="{FF2B5EF4-FFF2-40B4-BE49-F238E27FC236}">
                <a16:creationId xmlns:a16="http://schemas.microsoft.com/office/drawing/2014/main" id="{7BC87E8D-093D-37FE-5BF1-B7825EF3AC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FC601B-4562-E278-156A-E84932D600A1}"/>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517257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5FED2-19BD-480F-0EC4-D311CFB2BF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FA05AD-3495-0289-CF47-26B647CC35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CB62F-8626-C75A-55B2-772130B160D6}"/>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5" name="Footer Placeholder 4">
            <a:extLst>
              <a:ext uri="{FF2B5EF4-FFF2-40B4-BE49-F238E27FC236}">
                <a16:creationId xmlns:a16="http://schemas.microsoft.com/office/drawing/2014/main" id="{CEB3BCDD-D442-708F-4485-E403534D54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77E58A-8572-0A62-C26C-5AC092C6C028}"/>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409220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B174F-2E81-17DE-EC34-B29AB4CA4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775DD0-5F5D-EB6E-2EE0-57E37086D1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2CDBFB-731F-A9B9-6DE1-5F7F1EE1458E}"/>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5" name="Footer Placeholder 4">
            <a:extLst>
              <a:ext uri="{FF2B5EF4-FFF2-40B4-BE49-F238E27FC236}">
                <a16:creationId xmlns:a16="http://schemas.microsoft.com/office/drawing/2014/main" id="{DAB25DFB-1ECD-2A86-B8B1-D5DC9CB9C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707F1C-DAAE-693D-4D20-4EF2CF26A92C}"/>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467746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CEF60-925D-AF81-C676-24D6143750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15244B-5F0C-DEA9-7CF4-2212D079A3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FCF2EA9-B0E5-912F-F6F3-B6B73F86B6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A5D8B0-8A5E-2EAE-2CCA-5214B1183A65}"/>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6" name="Footer Placeholder 5">
            <a:extLst>
              <a:ext uri="{FF2B5EF4-FFF2-40B4-BE49-F238E27FC236}">
                <a16:creationId xmlns:a16="http://schemas.microsoft.com/office/drawing/2014/main" id="{02946F75-2A56-0259-F821-3FDFE4398D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9856D5-57CB-23C2-6566-874300606E79}"/>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802116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00488-321C-AFDC-773F-862CDB83C1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4B17F6-111F-E45E-BE52-B438EC45E7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987C2D-B4DF-2274-E0D2-AB56015F97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D1531B-2B7F-9690-4577-09AA5A050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A81DC4-2253-66EB-92DD-2CD0D59D23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EA7AF5-A7A8-2360-85AA-30C3698B5F8B}"/>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8" name="Footer Placeholder 7">
            <a:extLst>
              <a:ext uri="{FF2B5EF4-FFF2-40B4-BE49-F238E27FC236}">
                <a16:creationId xmlns:a16="http://schemas.microsoft.com/office/drawing/2014/main" id="{71B13F03-884B-0C9A-BC42-B703A9B7D1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4DBF95-3145-66E8-C5C7-746E8B1AA5DC}"/>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1206885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884E-DB67-18F2-BA14-A34E0A689F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D2580D-70AD-8373-5FEC-75A25845D36F}"/>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4" name="Footer Placeholder 3">
            <a:extLst>
              <a:ext uri="{FF2B5EF4-FFF2-40B4-BE49-F238E27FC236}">
                <a16:creationId xmlns:a16="http://schemas.microsoft.com/office/drawing/2014/main" id="{36F17032-4A46-0E37-9741-FAD6C67429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D1834B6-3E21-F866-EF11-FFFD565639CB}"/>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1517269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693406-C262-0F6A-E522-89F00147C850}"/>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3" name="Footer Placeholder 2">
            <a:extLst>
              <a:ext uri="{FF2B5EF4-FFF2-40B4-BE49-F238E27FC236}">
                <a16:creationId xmlns:a16="http://schemas.microsoft.com/office/drawing/2014/main" id="{35BFCB1B-6843-0745-4A35-0AD965F4C1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3751DE-25C7-10BF-2CC4-33DCA04760C9}"/>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418515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D7F5E-3643-0E09-0F90-21385F1C77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ED037B-28B6-26B6-1B82-9846265795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72CABA8-D603-8ADF-2F27-4BEAC79854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4F4EA2-F5AE-1810-8D25-1E54D34E57C5}"/>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6" name="Footer Placeholder 5">
            <a:extLst>
              <a:ext uri="{FF2B5EF4-FFF2-40B4-BE49-F238E27FC236}">
                <a16:creationId xmlns:a16="http://schemas.microsoft.com/office/drawing/2014/main" id="{28148A6F-0BEF-7C53-47E5-F662521A9E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363ABD-7955-0B9A-A148-7A84033DB0A6}"/>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922086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8E7A0-B8F3-5D25-1A02-EA92BF751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4F4743-8CCD-10FF-E0F6-AAC9C56FB9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EC63F8-E375-E5BD-3640-D85DF93A34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CEF1B0-D2D1-9D4A-E300-2236CF4CA7D6}"/>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6" name="Footer Placeholder 5">
            <a:extLst>
              <a:ext uri="{FF2B5EF4-FFF2-40B4-BE49-F238E27FC236}">
                <a16:creationId xmlns:a16="http://schemas.microsoft.com/office/drawing/2014/main" id="{C427F144-60BA-664D-9F59-14A70FFF60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B95386-1925-C73A-D3F8-625EC0F548D4}"/>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655750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540FB-EE90-C890-DD22-E631E86EAF8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361A46-E8D9-2045-2854-DAED02DC21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963821-3937-C429-E3DA-E5A46E460531}"/>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5" name="Footer Placeholder 4">
            <a:extLst>
              <a:ext uri="{FF2B5EF4-FFF2-40B4-BE49-F238E27FC236}">
                <a16:creationId xmlns:a16="http://schemas.microsoft.com/office/drawing/2014/main" id="{13E20D3F-1E61-2A34-089B-ED497890F1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EE37EB-E48C-4EE8-E537-8AF542794B05}"/>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038629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1E056E-A360-DB43-50F2-79D93A20F9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67C386-182F-03FB-12AE-4633CE92EF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759AA-9955-DFD2-B626-8990985AEAB0}"/>
              </a:ext>
            </a:extLst>
          </p:cNvPr>
          <p:cNvSpPr>
            <a:spLocks noGrp="1"/>
          </p:cNvSpPr>
          <p:nvPr>
            <p:ph type="dt" sz="half" idx="10"/>
          </p:nvPr>
        </p:nvSpPr>
        <p:spPr/>
        <p:txBody>
          <a:bodyPr/>
          <a:lstStyle/>
          <a:p>
            <a:fld id="{1F3E20FB-9B8E-4F9B-81DB-1C5B3F2D15DE}" type="datetimeFigureOut">
              <a:rPr lang="en-IN" smtClean="0"/>
              <a:t>15-06-2026</a:t>
            </a:fld>
            <a:endParaRPr lang="en-IN"/>
          </a:p>
        </p:txBody>
      </p:sp>
      <p:sp>
        <p:nvSpPr>
          <p:cNvPr id="5" name="Footer Placeholder 4">
            <a:extLst>
              <a:ext uri="{FF2B5EF4-FFF2-40B4-BE49-F238E27FC236}">
                <a16:creationId xmlns:a16="http://schemas.microsoft.com/office/drawing/2014/main" id="{D2815890-396D-D17C-9C04-222B333ECD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356726-9357-EB26-3614-5CEB0D495482}"/>
              </a:ext>
            </a:extLst>
          </p:cNvPr>
          <p:cNvSpPr>
            <a:spLocks noGrp="1"/>
          </p:cNvSpPr>
          <p:nvPr>
            <p:ph type="sldNum" sz="quarter" idx="12"/>
          </p:nvPr>
        </p:nvSpPr>
        <p:spPr/>
        <p:txBody>
          <a:bodyPr/>
          <a:lstStyle/>
          <a:p>
            <a:fld id="{BED53F38-6F9E-4F98-87D1-A3C723689619}" type="slidenum">
              <a:rPr lang="en-IN" smtClean="0"/>
              <a:t>‹#›</a:t>
            </a:fld>
            <a:endParaRPr lang="en-IN"/>
          </a:p>
        </p:txBody>
      </p:sp>
    </p:spTree>
    <p:extLst>
      <p:ext uri="{BB962C8B-B14F-4D97-AF65-F5344CB8AC3E}">
        <p14:creationId xmlns:p14="http://schemas.microsoft.com/office/powerpoint/2010/main" val="2082191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47053B-4F73-5F24-1549-CC80C5CACD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D2CAAA-8D3B-3301-2C94-3C39416A3B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83A755-9F06-2585-8CA9-C8A0BD7706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E20FB-9B8E-4F9B-81DB-1C5B3F2D15DE}" type="datetimeFigureOut">
              <a:rPr lang="en-IN" smtClean="0"/>
              <a:t>15-06-2026</a:t>
            </a:fld>
            <a:endParaRPr lang="en-IN"/>
          </a:p>
        </p:txBody>
      </p:sp>
      <p:sp>
        <p:nvSpPr>
          <p:cNvPr id="5" name="Footer Placeholder 4">
            <a:extLst>
              <a:ext uri="{FF2B5EF4-FFF2-40B4-BE49-F238E27FC236}">
                <a16:creationId xmlns:a16="http://schemas.microsoft.com/office/drawing/2014/main" id="{C839E499-4042-4DFD-73D0-1AB85CDDDB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0A72FE0-1401-E04F-2168-61B87B06DD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D53F38-6F9E-4F98-87D1-A3C723689619}" type="slidenum">
              <a:rPr lang="en-IN" smtClean="0"/>
              <a:t>‹#›</a:t>
            </a:fld>
            <a:endParaRPr lang="en-IN"/>
          </a:p>
        </p:txBody>
      </p:sp>
    </p:spTree>
    <p:extLst>
      <p:ext uri="{BB962C8B-B14F-4D97-AF65-F5344CB8AC3E}">
        <p14:creationId xmlns:p14="http://schemas.microsoft.com/office/powerpoint/2010/main" val="2821031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chat-bot-amdocsassignment.vercel.app/" TargetMode="External"/><Relationship Id="rId2" Type="http://schemas.openxmlformats.org/officeDocument/2006/relationships/hyperlink" Target="https://github.com/khadeshri19/Amdocs_Assignmen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069B5-D84C-E90E-5D1E-CF712C2D9CD4}"/>
              </a:ext>
            </a:extLst>
          </p:cNvPr>
          <p:cNvSpPr>
            <a:spLocks noGrp="1"/>
          </p:cNvSpPr>
          <p:nvPr>
            <p:ph type="ctrTitle"/>
          </p:nvPr>
        </p:nvSpPr>
        <p:spPr>
          <a:xfrm>
            <a:off x="1524000" y="868362"/>
            <a:ext cx="9144000" cy="2387600"/>
          </a:xfrm>
        </p:spPr>
        <p:txBody>
          <a:bodyPr>
            <a:normAutofit/>
          </a:bodyPr>
          <a:lstStyle/>
          <a:p>
            <a:r>
              <a:rPr lang="en-IN" sz="3200" b="1" dirty="0"/>
              <a:t>Amdocs – Data Analyst (Entry Level) Assignment</a:t>
            </a:r>
          </a:p>
        </p:txBody>
      </p:sp>
      <p:sp>
        <p:nvSpPr>
          <p:cNvPr id="3" name="Subtitle 2">
            <a:extLst>
              <a:ext uri="{FF2B5EF4-FFF2-40B4-BE49-F238E27FC236}">
                <a16:creationId xmlns:a16="http://schemas.microsoft.com/office/drawing/2014/main" id="{123E0A1E-48B5-940C-3995-B5655C3011EF}"/>
              </a:ext>
            </a:extLst>
          </p:cNvPr>
          <p:cNvSpPr>
            <a:spLocks noGrp="1"/>
          </p:cNvSpPr>
          <p:nvPr>
            <p:ph type="subTitle" idx="1"/>
          </p:nvPr>
        </p:nvSpPr>
        <p:spPr>
          <a:xfrm>
            <a:off x="1452880" y="3429000"/>
            <a:ext cx="9144000" cy="1655762"/>
          </a:xfrm>
        </p:spPr>
        <p:txBody>
          <a:bodyPr>
            <a:normAutofit/>
          </a:bodyPr>
          <a:lstStyle/>
          <a:p>
            <a:r>
              <a:rPr lang="en-IN" sz="3200" b="1" dirty="0"/>
              <a:t>Shrikant Popat Khade </a:t>
            </a:r>
          </a:p>
        </p:txBody>
      </p:sp>
    </p:spTree>
    <p:extLst>
      <p:ext uri="{BB962C8B-B14F-4D97-AF65-F5344CB8AC3E}">
        <p14:creationId xmlns:p14="http://schemas.microsoft.com/office/powerpoint/2010/main" val="954866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029A-DDFD-E79D-8BCB-D7DB1B3F6DF0}"/>
              </a:ext>
            </a:extLst>
          </p:cNvPr>
          <p:cNvSpPr>
            <a:spLocks noGrp="1"/>
          </p:cNvSpPr>
          <p:nvPr>
            <p:ph type="title"/>
          </p:nvPr>
        </p:nvSpPr>
        <p:spPr>
          <a:xfrm>
            <a:off x="838200" y="365125"/>
            <a:ext cx="10515600" cy="671195"/>
          </a:xfrm>
        </p:spPr>
        <p:txBody>
          <a:bodyPr>
            <a:normAutofit/>
          </a:bodyPr>
          <a:lstStyle/>
          <a:p>
            <a:r>
              <a:rPr lang="en-IN" sz="2800" dirty="0"/>
              <a:t>Project Overview &amp; Deliverables</a:t>
            </a:r>
          </a:p>
        </p:txBody>
      </p:sp>
      <p:sp>
        <p:nvSpPr>
          <p:cNvPr id="3" name="Content Placeholder 2">
            <a:extLst>
              <a:ext uri="{FF2B5EF4-FFF2-40B4-BE49-F238E27FC236}">
                <a16:creationId xmlns:a16="http://schemas.microsoft.com/office/drawing/2014/main" id="{BEC13433-097D-0B15-6167-4E6B9475FCCC}"/>
              </a:ext>
            </a:extLst>
          </p:cNvPr>
          <p:cNvSpPr>
            <a:spLocks noGrp="1"/>
          </p:cNvSpPr>
          <p:nvPr>
            <p:ph idx="1"/>
          </p:nvPr>
        </p:nvSpPr>
        <p:spPr>
          <a:xfrm>
            <a:off x="838200" y="1253331"/>
            <a:ext cx="10515600" cy="4351338"/>
          </a:xfrm>
        </p:spPr>
        <p:txBody>
          <a:bodyPr>
            <a:normAutofit lnSpcReduction="10000"/>
          </a:bodyPr>
          <a:lstStyle/>
          <a:p>
            <a:r>
              <a:rPr lang="en-IN" dirty="0"/>
              <a:t>Project Introduction</a:t>
            </a:r>
            <a:br>
              <a:rPr lang="en-IN" dirty="0"/>
            </a:br>
            <a:br>
              <a:rPr lang="en-IN" dirty="0"/>
            </a:br>
            <a:r>
              <a:rPr lang="en-IN" dirty="0"/>
              <a:t>	</a:t>
            </a:r>
            <a:r>
              <a:rPr lang="en-IN" sz="2000" dirty="0"/>
              <a:t>The objective of this project was to transform raw financial data into meaningful business insights using data analytics, interactive dashboards, and an AI-powered conversational assistant. Using the German Credit Risk Dataset, the solution helps business stakeholders understand customer </a:t>
            </a:r>
            <a:r>
              <a:rPr lang="en-IN" sz="2000" dirty="0" err="1"/>
              <a:t>behavior</a:t>
            </a:r>
            <a:r>
              <a:rPr lang="en-IN" sz="2000" dirty="0"/>
              <a:t>, </a:t>
            </a:r>
            <a:r>
              <a:rPr lang="en-IN" sz="2000" dirty="0" err="1"/>
              <a:t>analyze</a:t>
            </a:r>
            <a:r>
              <a:rPr lang="en-IN" sz="2000" dirty="0"/>
              <a:t> financial exposure, and make data-driven decisions through visual analytics and natural language interactions. </a:t>
            </a:r>
            <a:br>
              <a:rPr lang="en-IN" sz="2000" dirty="0"/>
            </a:br>
            <a:br>
              <a:rPr lang="en-IN" sz="2000" dirty="0"/>
            </a:br>
            <a:r>
              <a:rPr lang="en-IN" sz="2000" dirty="0"/>
              <a:t>ALL DASHBOARD AND THE REQUIREMENTS ARE IN THE GITHUB LINK CONTAINS DASHBOARDS AND EXECUTIVE SUMMARY</a:t>
            </a:r>
            <a:br>
              <a:rPr lang="en-IN" sz="2000" dirty="0"/>
            </a:br>
            <a:br>
              <a:rPr lang="en-IN" sz="2000" dirty="0"/>
            </a:br>
            <a:r>
              <a:rPr lang="en-IN" sz="2000" b="1" dirty="0"/>
              <a:t>GitHub Repository:</a:t>
            </a:r>
            <a:br>
              <a:rPr lang="en-IN" sz="2000" dirty="0"/>
            </a:br>
            <a:r>
              <a:rPr lang="en-IN" sz="2000" dirty="0"/>
              <a:t>	</a:t>
            </a:r>
            <a:r>
              <a:rPr lang="en-IN" sz="2000" dirty="0">
                <a:hlinkClick r:id="rId2"/>
              </a:rPr>
              <a:t>https://github.com/khadeshri19/Amdocs_Assignment</a:t>
            </a:r>
            <a:br>
              <a:rPr lang="en-IN" sz="2000" dirty="0"/>
            </a:br>
            <a:br>
              <a:rPr lang="en-IN" sz="2000" dirty="0"/>
            </a:br>
            <a:r>
              <a:rPr lang="en-IN" sz="2000" b="1" dirty="0"/>
              <a:t>Live Application (</a:t>
            </a:r>
            <a:r>
              <a:rPr lang="en-IN" sz="2000" b="1" dirty="0" err="1"/>
              <a:t>Vercel</a:t>
            </a:r>
            <a:r>
              <a:rPr lang="en-IN" sz="2000" b="1" dirty="0"/>
              <a:t>):</a:t>
            </a:r>
            <a:br>
              <a:rPr lang="en-IN" sz="2000" dirty="0"/>
            </a:br>
            <a:r>
              <a:rPr lang="en-IN" sz="2000" dirty="0"/>
              <a:t>	</a:t>
            </a:r>
            <a:r>
              <a:rPr lang="en-IN" sz="2000" dirty="0">
                <a:hlinkClick r:id="rId3"/>
              </a:rPr>
              <a:t>https://chat-bot-amdocsassignment.vercel.app/</a:t>
            </a:r>
            <a:endParaRPr lang="en-IN" sz="2000" dirty="0"/>
          </a:p>
          <a:p>
            <a:endParaRPr lang="en-IN" sz="2000" dirty="0"/>
          </a:p>
        </p:txBody>
      </p:sp>
    </p:spTree>
    <p:extLst>
      <p:ext uri="{BB962C8B-B14F-4D97-AF65-F5344CB8AC3E}">
        <p14:creationId xmlns:p14="http://schemas.microsoft.com/office/powerpoint/2010/main" val="3411143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1EC76D-9184-F088-1174-45E78434023B}"/>
              </a:ext>
            </a:extLst>
          </p:cNvPr>
          <p:cNvSpPr txBox="1"/>
          <p:nvPr/>
        </p:nvSpPr>
        <p:spPr>
          <a:xfrm>
            <a:off x="1066800" y="721360"/>
            <a:ext cx="4511040" cy="461665"/>
          </a:xfrm>
          <a:prstGeom prst="rect">
            <a:avLst/>
          </a:prstGeom>
          <a:noFill/>
        </p:spPr>
        <p:txBody>
          <a:bodyPr wrap="square" rtlCol="0">
            <a:spAutoFit/>
          </a:bodyPr>
          <a:lstStyle/>
          <a:p>
            <a:r>
              <a:rPr lang="en-IN" sz="2400" b="1" dirty="0"/>
              <a:t>PHASE 1 : DATASET SELECTION</a:t>
            </a:r>
          </a:p>
        </p:txBody>
      </p:sp>
      <p:sp>
        <p:nvSpPr>
          <p:cNvPr id="3" name="TextBox 2">
            <a:extLst>
              <a:ext uri="{FF2B5EF4-FFF2-40B4-BE49-F238E27FC236}">
                <a16:creationId xmlns:a16="http://schemas.microsoft.com/office/drawing/2014/main" id="{248F566E-D169-8AA8-7FBF-10E15F93C56E}"/>
              </a:ext>
            </a:extLst>
          </p:cNvPr>
          <p:cNvSpPr txBox="1"/>
          <p:nvPr/>
        </p:nvSpPr>
        <p:spPr>
          <a:xfrm>
            <a:off x="1808480" y="1584960"/>
            <a:ext cx="9601200" cy="4247317"/>
          </a:xfrm>
          <a:prstGeom prst="rect">
            <a:avLst/>
          </a:prstGeom>
          <a:noFill/>
        </p:spPr>
        <p:txBody>
          <a:bodyPr wrap="square" rtlCol="0">
            <a:spAutoFit/>
          </a:bodyPr>
          <a:lstStyle/>
          <a:p>
            <a:r>
              <a:rPr lang="en-IN" dirty="0"/>
              <a:t>For this project, the German Credit Risk Dataset was selected to </a:t>
            </a:r>
            <a:r>
              <a:rPr lang="en-IN" dirty="0" err="1"/>
              <a:t>analyze</a:t>
            </a:r>
            <a:r>
              <a:rPr lang="en-IN" dirty="0"/>
              <a:t> customer credit </a:t>
            </a:r>
            <a:r>
              <a:rPr lang="en-IN" dirty="0" err="1"/>
              <a:t>behavior</a:t>
            </a:r>
            <a:r>
              <a:rPr lang="en-IN" dirty="0"/>
              <a:t> and identify potential financial risk indicators. The dataset contains information for 1,000 customers, including demographic details, financial attributes, loan characteristics, and borrowing </a:t>
            </a:r>
            <a:r>
              <a:rPr lang="en-IN" dirty="0" err="1"/>
              <a:t>behavior</a:t>
            </a:r>
            <a:r>
              <a:rPr lang="en-IN" dirty="0"/>
              <a:t>.</a:t>
            </a:r>
            <a:br>
              <a:rPr lang="en-IN" dirty="0"/>
            </a:br>
            <a:endParaRPr lang="en-IN" dirty="0"/>
          </a:p>
          <a:p>
            <a:r>
              <a:rPr lang="en-IN" dirty="0"/>
              <a:t>Key features available in the dataset include Age, Sex, Housing Status, Credit Amount, Loan Duration, Savings Accounts, Checking Accounts, and Loan Purpose. These attributes provide valuable insights into customer profiles and lending patterns.</a:t>
            </a:r>
            <a:br>
              <a:rPr lang="en-IN" dirty="0"/>
            </a:br>
            <a:endParaRPr lang="en-IN" dirty="0"/>
          </a:p>
          <a:p>
            <a:r>
              <a:rPr lang="en-IN" dirty="0"/>
              <a:t>The dataset was chosen because it closely represents real-world financial and credit assessment scenarios. It enables the analysis of customer segments, loan trends, financial exposure, and risk-related patterns that are relevant to both financial services and telecom organizations.</a:t>
            </a:r>
            <a:br>
              <a:rPr lang="en-IN" dirty="0"/>
            </a:br>
            <a:endParaRPr lang="en-IN" dirty="0"/>
          </a:p>
          <a:p>
            <a:r>
              <a:rPr lang="en-IN" dirty="0"/>
              <a:t>The dataset serves as the foundation for exploratory data analysis, dashboard development, and the Smart Financial Data Assistant designed in this project.</a:t>
            </a:r>
          </a:p>
          <a:p>
            <a:endParaRPr lang="en-IN" dirty="0"/>
          </a:p>
        </p:txBody>
      </p:sp>
    </p:spTree>
    <p:extLst>
      <p:ext uri="{BB962C8B-B14F-4D97-AF65-F5344CB8AC3E}">
        <p14:creationId xmlns:p14="http://schemas.microsoft.com/office/powerpoint/2010/main" val="2866681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9A0693-7B0A-52B2-EA1F-B7DFBBEBE491}"/>
              </a:ext>
            </a:extLst>
          </p:cNvPr>
          <p:cNvSpPr txBox="1"/>
          <p:nvPr/>
        </p:nvSpPr>
        <p:spPr>
          <a:xfrm>
            <a:off x="670560" y="487680"/>
            <a:ext cx="4886960" cy="738664"/>
          </a:xfrm>
          <a:prstGeom prst="rect">
            <a:avLst/>
          </a:prstGeom>
          <a:noFill/>
        </p:spPr>
        <p:txBody>
          <a:bodyPr wrap="square" rtlCol="0">
            <a:spAutoFit/>
          </a:bodyPr>
          <a:lstStyle/>
          <a:p>
            <a:r>
              <a:rPr lang="en-IN" sz="2400" b="1" dirty="0"/>
              <a:t>PHASE 2 Dataset Overview</a:t>
            </a:r>
          </a:p>
          <a:p>
            <a:endParaRPr lang="en-IN" dirty="0"/>
          </a:p>
        </p:txBody>
      </p:sp>
      <p:sp>
        <p:nvSpPr>
          <p:cNvPr id="3" name="TextBox 2">
            <a:extLst>
              <a:ext uri="{FF2B5EF4-FFF2-40B4-BE49-F238E27FC236}">
                <a16:creationId xmlns:a16="http://schemas.microsoft.com/office/drawing/2014/main" id="{5C9331C5-6ADC-15F2-3CF9-8EE18731625E}"/>
              </a:ext>
            </a:extLst>
          </p:cNvPr>
          <p:cNvSpPr txBox="1"/>
          <p:nvPr/>
        </p:nvSpPr>
        <p:spPr>
          <a:xfrm>
            <a:off x="1259840" y="1292007"/>
            <a:ext cx="10535920" cy="4801314"/>
          </a:xfrm>
          <a:prstGeom prst="rect">
            <a:avLst/>
          </a:prstGeom>
          <a:noFill/>
        </p:spPr>
        <p:txBody>
          <a:bodyPr wrap="square" rtlCol="0">
            <a:spAutoFit/>
          </a:bodyPr>
          <a:lstStyle/>
          <a:p>
            <a:r>
              <a:rPr lang="en-IN" dirty="0"/>
              <a:t>The German Credit Risk Dataset contains information on </a:t>
            </a:r>
            <a:r>
              <a:rPr lang="en-IN" b="1" dirty="0"/>
              <a:t>1,000 customers</a:t>
            </a:r>
            <a:r>
              <a:rPr lang="en-IN" dirty="0"/>
              <a:t> and was used to </a:t>
            </a:r>
            <a:r>
              <a:rPr lang="en-IN" dirty="0" err="1"/>
              <a:t>analyze</a:t>
            </a:r>
            <a:r>
              <a:rPr lang="en-IN" dirty="0"/>
              <a:t> customer borrowing </a:t>
            </a:r>
            <a:r>
              <a:rPr lang="en-IN" dirty="0" err="1"/>
              <a:t>behavior</a:t>
            </a:r>
            <a:r>
              <a:rPr lang="en-IN" dirty="0"/>
              <a:t> and financial exposure. </a:t>
            </a:r>
            <a:br>
              <a:rPr lang="en-IN" dirty="0"/>
            </a:br>
            <a:r>
              <a:rPr lang="en-IN" dirty="0"/>
              <a:t>The dataset includes important attributes such as </a:t>
            </a:r>
            <a:r>
              <a:rPr lang="en-IN" b="1" dirty="0"/>
              <a:t>Age, Housing Status, Credit Amount, Loan Duration, Savings Accounts, Checking Accounts, and Loan Purpose</a:t>
            </a:r>
            <a:r>
              <a:rPr lang="en-IN" dirty="0"/>
              <a:t>.</a:t>
            </a:r>
          </a:p>
          <a:p>
            <a:r>
              <a:rPr lang="en-IN" dirty="0"/>
              <a:t>The dataset was selected because it represents a real-world credit assessment scenario and helps identify customer trends, financial patterns, and potential risk factors. It serves as the foundation for the dashboard development, business analysis, and the Smart Financial Data Assistant created in this project.</a:t>
            </a:r>
          </a:p>
          <a:p>
            <a:br>
              <a:rPr lang="en-IN" dirty="0"/>
            </a:br>
            <a:r>
              <a:rPr lang="en-IN" b="1" dirty="0"/>
              <a:t>Dataset Characteristics</a:t>
            </a:r>
          </a:p>
          <a:p>
            <a:pPr marL="447675" indent="-285750">
              <a:buFont typeface="Arial" panose="020B0604020202020204" pitchFamily="34" charset="0"/>
              <a:buChar char="•"/>
            </a:pPr>
            <a:r>
              <a:rPr lang="en-IN" dirty="0"/>
              <a:t>Total Records: </a:t>
            </a:r>
            <a:r>
              <a:rPr lang="en-IN" b="1" dirty="0"/>
              <a:t>1,000</a:t>
            </a:r>
            <a:r>
              <a:rPr lang="en-IN" dirty="0"/>
              <a:t> </a:t>
            </a:r>
          </a:p>
          <a:p>
            <a:pPr marL="447675" indent="-285750">
              <a:buFont typeface="Arial" panose="020B0604020202020204" pitchFamily="34" charset="0"/>
              <a:buChar char="•"/>
            </a:pPr>
            <a:r>
              <a:rPr lang="en-IN" dirty="0"/>
              <a:t>Data Type: </a:t>
            </a:r>
            <a:r>
              <a:rPr lang="en-IN" b="1" dirty="0"/>
              <a:t>Structured Tabular Data</a:t>
            </a:r>
            <a:r>
              <a:rPr lang="en-IN" dirty="0"/>
              <a:t> </a:t>
            </a:r>
          </a:p>
          <a:p>
            <a:pPr marL="447675" indent="-285750">
              <a:buFont typeface="Arial" panose="020B0604020202020204" pitchFamily="34" charset="0"/>
              <a:buChar char="•"/>
            </a:pPr>
            <a:r>
              <a:rPr lang="en-IN" dirty="0"/>
              <a:t>Domain: </a:t>
            </a:r>
            <a:r>
              <a:rPr lang="en-IN" b="1" dirty="0"/>
              <a:t>Financial Services / Credit Risk Analysis</a:t>
            </a:r>
            <a:r>
              <a:rPr lang="en-IN" dirty="0"/>
              <a:t> </a:t>
            </a:r>
          </a:p>
          <a:p>
            <a:pPr marL="447675" indent="-285750">
              <a:buFont typeface="Arial" panose="020B0604020202020204" pitchFamily="34" charset="0"/>
              <a:buChar char="•"/>
            </a:pPr>
            <a:r>
              <a:rPr lang="en-IN" dirty="0"/>
              <a:t>Analysis Type: </a:t>
            </a:r>
            <a:r>
              <a:rPr lang="en-IN" b="1" dirty="0"/>
              <a:t>Descriptive Analytics and Business Intelligence</a:t>
            </a:r>
            <a:r>
              <a:rPr lang="en-IN" dirty="0"/>
              <a:t> </a:t>
            </a:r>
          </a:p>
          <a:p>
            <a:pPr marL="447675" indent="-285750">
              <a:buFont typeface="Arial" panose="020B0604020202020204" pitchFamily="34" charset="0"/>
              <a:buChar char="•"/>
            </a:pPr>
            <a:r>
              <a:rPr lang="en-IN" dirty="0"/>
              <a:t>Tools Used: </a:t>
            </a:r>
            <a:r>
              <a:rPr lang="en-IN" b="1" dirty="0"/>
              <a:t>Python (Pandas, Seaborn), Power BI, HTML/CSS/JavaScript</a:t>
            </a:r>
            <a:r>
              <a:rPr lang="en-IN" dirty="0"/>
              <a:t> </a:t>
            </a:r>
          </a:p>
          <a:p>
            <a:pPr marL="447675" indent="-285750">
              <a:buFont typeface="Arial" panose="020B0604020202020204" pitchFamily="34" charset="0"/>
              <a:buChar char="•"/>
            </a:pPr>
            <a:r>
              <a:rPr lang="en-IN" dirty="0"/>
              <a:t>Objective: </a:t>
            </a:r>
            <a:r>
              <a:rPr lang="en-IN" b="1" dirty="0"/>
              <a:t>Understand customer </a:t>
            </a:r>
            <a:r>
              <a:rPr lang="en-IN" b="1" dirty="0" err="1"/>
              <a:t>behavior</a:t>
            </a:r>
            <a:r>
              <a:rPr lang="en-IN" b="1" dirty="0"/>
              <a:t>, identify financial exposure patterns, and develop a Smart Financial Data Assistant</a:t>
            </a:r>
            <a:endParaRPr lang="en-IN" dirty="0"/>
          </a:p>
          <a:p>
            <a:endParaRPr lang="en-IN" dirty="0"/>
          </a:p>
        </p:txBody>
      </p:sp>
    </p:spTree>
    <p:extLst>
      <p:ext uri="{BB962C8B-B14F-4D97-AF65-F5344CB8AC3E}">
        <p14:creationId xmlns:p14="http://schemas.microsoft.com/office/powerpoint/2010/main" val="1449646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477CEF-1A31-70CF-6F7B-E2937D0C1F66}"/>
              </a:ext>
            </a:extLst>
          </p:cNvPr>
          <p:cNvSpPr txBox="1"/>
          <p:nvPr/>
        </p:nvSpPr>
        <p:spPr>
          <a:xfrm>
            <a:off x="660400" y="680720"/>
            <a:ext cx="9743440" cy="4247317"/>
          </a:xfrm>
          <a:prstGeom prst="rect">
            <a:avLst/>
          </a:prstGeom>
          <a:noFill/>
        </p:spPr>
        <p:txBody>
          <a:bodyPr wrap="square" rtlCol="0">
            <a:spAutoFit/>
          </a:bodyPr>
          <a:lstStyle/>
          <a:p>
            <a:pPr algn="just"/>
            <a:r>
              <a:rPr lang="en-IN" b="1" dirty="0"/>
              <a:t>Exploratory Data Analysis (EDA)</a:t>
            </a:r>
          </a:p>
          <a:p>
            <a:pPr algn="just"/>
            <a:r>
              <a:rPr lang="en-IN" dirty="0"/>
              <a:t>Exploratory Data Analysis was conducted to understand customer demographics, borrowing </a:t>
            </a:r>
            <a:r>
              <a:rPr lang="en-IN" dirty="0" err="1"/>
              <a:t>behavior</a:t>
            </a:r>
            <a:r>
              <a:rPr lang="en-IN" dirty="0"/>
              <a:t>, and financial exposure patterns. The analysis focused on age distribution, housing status, loan purpose, credit amount, loan duration, and the relationship between key financial variables. Various visualizations were used to identify trends, customer segments, and potential risk indicators.</a:t>
            </a:r>
            <a:br>
              <a:rPr lang="en-IN" dirty="0"/>
            </a:br>
            <a:endParaRPr lang="en-IN" dirty="0"/>
          </a:p>
          <a:p>
            <a:pPr algn="just"/>
            <a:r>
              <a:rPr lang="en-IN" b="1" dirty="0"/>
              <a:t>Key Findings</a:t>
            </a:r>
          </a:p>
          <a:p>
            <a:pPr marL="630238" indent="-355600" algn="just">
              <a:buFont typeface="+mj-lt"/>
              <a:buAutoNum type="arabicPeriod"/>
            </a:pPr>
            <a:r>
              <a:rPr lang="en-IN" dirty="0"/>
              <a:t>Customers with free housing tend to have higher average credit amounts and longer loan durations compared to other housing categories.</a:t>
            </a:r>
          </a:p>
          <a:p>
            <a:pPr marL="630238" indent="-355600" algn="just">
              <a:buFont typeface="+mj-lt"/>
              <a:buAutoNum type="arabicPeriod"/>
            </a:pPr>
            <a:r>
              <a:rPr lang="en-IN" dirty="0"/>
              <a:t>Car and Radio/TV loans represent the largest share of loan applications in the dataset.</a:t>
            </a:r>
          </a:p>
          <a:p>
            <a:pPr marL="630238" indent="-355600" algn="just">
              <a:buFont typeface="+mj-lt"/>
              <a:buAutoNum type="arabicPeriod"/>
            </a:pPr>
            <a:r>
              <a:rPr lang="en-IN" dirty="0"/>
              <a:t>Most customers belong to the 26–50 age group, making it the dominant customer segment.</a:t>
            </a:r>
          </a:p>
          <a:p>
            <a:pPr marL="630238" indent="-355600" algn="just">
              <a:buFont typeface="+mj-lt"/>
              <a:buAutoNum type="arabicPeriod"/>
            </a:pPr>
            <a:r>
              <a:rPr lang="en-IN" dirty="0"/>
              <a:t>Credit amount and loan duration show a positive relationship, indicating that larger loans generally require longer repayment periods.</a:t>
            </a:r>
          </a:p>
          <a:p>
            <a:pPr marL="630238" indent="-355600" algn="just">
              <a:buFont typeface="+mj-lt"/>
              <a:buAutoNum type="arabicPeriod"/>
            </a:pPr>
            <a:r>
              <a:rPr lang="en-IN" dirty="0"/>
              <a:t>Missing values were identified in savings and checking account information, highlighting opportunities for improving data quality.</a:t>
            </a:r>
          </a:p>
        </p:txBody>
      </p:sp>
    </p:spTree>
    <p:extLst>
      <p:ext uri="{BB962C8B-B14F-4D97-AF65-F5344CB8AC3E}">
        <p14:creationId xmlns:p14="http://schemas.microsoft.com/office/powerpoint/2010/main" val="3867202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2AB13-9216-642C-21D3-BF3CB787C4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8FFC54-9EE0-20ED-62FA-06D5A9C64C02}"/>
              </a:ext>
            </a:extLst>
          </p:cNvPr>
          <p:cNvSpPr txBox="1"/>
          <p:nvPr/>
        </p:nvSpPr>
        <p:spPr>
          <a:xfrm>
            <a:off x="660400" y="680720"/>
            <a:ext cx="10830560" cy="3970318"/>
          </a:xfrm>
          <a:prstGeom prst="rect">
            <a:avLst/>
          </a:prstGeom>
          <a:noFill/>
        </p:spPr>
        <p:txBody>
          <a:bodyPr wrap="square" rtlCol="0">
            <a:spAutoFit/>
          </a:bodyPr>
          <a:lstStyle/>
          <a:p>
            <a:r>
              <a:rPr lang="en-IN" b="1" dirty="0"/>
              <a:t>Dashboard Development</a:t>
            </a:r>
          </a:p>
          <a:p>
            <a:r>
              <a:rPr lang="en-IN" dirty="0"/>
              <a:t>An interactive Power BI dashboard was developed to present the analysis in a clear and business-friendly manner. The dashboard enables stakeholders to explore customer </a:t>
            </a:r>
            <a:r>
              <a:rPr lang="en-IN" dirty="0" err="1"/>
              <a:t>behavior</a:t>
            </a:r>
            <a:r>
              <a:rPr lang="en-IN" dirty="0"/>
              <a:t>, financial exposure, and lending patterns through interactive visualizations and filters.</a:t>
            </a:r>
            <a:br>
              <a:rPr lang="en-IN" dirty="0"/>
            </a:br>
            <a:endParaRPr lang="en-IN" dirty="0"/>
          </a:p>
          <a:p>
            <a:pPr marL="1006475" indent="-285750">
              <a:buFont typeface="Arial" panose="020B0604020202020204" pitchFamily="34" charset="0"/>
              <a:buChar char="•"/>
            </a:pPr>
            <a:r>
              <a:rPr lang="en-IN" b="1" dirty="0"/>
              <a:t>Executive Overview</a:t>
            </a:r>
          </a:p>
          <a:p>
            <a:pPr marL="720725"/>
            <a:r>
              <a:rPr lang="en-IN" dirty="0"/>
              <a:t>	       Provides a high-level summary of customer demographics, loan purposes, housing 		       	       profiles, and financial characteristics.</a:t>
            </a:r>
          </a:p>
          <a:p>
            <a:pPr marL="1006475" indent="-285750">
              <a:buFont typeface="Arial" panose="020B0604020202020204" pitchFamily="34" charset="0"/>
              <a:buChar char="•"/>
            </a:pPr>
            <a:r>
              <a:rPr lang="en-IN" b="1" dirty="0"/>
              <a:t>Risk Analysis</a:t>
            </a:r>
          </a:p>
          <a:p>
            <a:pPr marL="720725"/>
            <a:r>
              <a:rPr lang="en-IN" dirty="0"/>
              <a:t>	        Highlights key exposure factors by </a:t>
            </a:r>
            <a:r>
              <a:rPr lang="en-IN" dirty="0" err="1"/>
              <a:t>analyzing</a:t>
            </a:r>
            <a:r>
              <a:rPr lang="en-IN" dirty="0"/>
              <a:t> credit amount, loan duration, housing 		                  	        categories, and customer segments.</a:t>
            </a:r>
          </a:p>
          <a:p>
            <a:pPr marL="1006475" indent="-285750">
              <a:buFont typeface="Arial" panose="020B0604020202020204" pitchFamily="34" charset="0"/>
              <a:buChar char="•"/>
            </a:pPr>
            <a:r>
              <a:rPr lang="en-IN" b="1" dirty="0"/>
              <a:t>Smart Financial Assistant</a:t>
            </a:r>
          </a:p>
          <a:p>
            <a:pPr marL="720725"/>
            <a:r>
              <a:rPr lang="en-IN" dirty="0"/>
              <a:t>	         Provides a conversational interface that allows users to ask business questions in 		             	         natural language and receive structured, data-driven responses.</a:t>
            </a:r>
          </a:p>
        </p:txBody>
      </p:sp>
    </p:spTree>
    <p:extLst>
      <p:ext uri="{BB962C8B-B14F-4D97-AF65-F5344CB8AC3E}">
        <p14:creationId xmlns:p14="http://schemas.microsoft.com/office/powerpoint/2010/main" val="21153734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3D49B3-310E-D0DC-6E5B-926241F92831}"/>
              </a:ext>
            </a:extLst>
          </p:cNvPr>
          <p:cNvPicPr>
            <a:picLocks noChangeAspect="1"/>
          </p:cNvPicPr>
          <p:nvPr/>
        </p:nvPicPr>
        <p:blipFill>
          <a:blip r:embed="rId2"/>
          <a:srcRect l="2428" t="535"/>
          <a:stretch>
            <a:fillRect/>
          </a:stretch>
        </p:blipFill>
        <p:spPr>
          <a:xfrm>
            <a:off x="1391919" y="538480"/>
            <a:ext cx="8753369" cy="5781040"/>
          </a:xfrm>
          <a:prstGeom prst="rect">
            <a:avLst/>
          </a:prstGeom>
        </p:spPr>
      </p:pic>
      <p:sp>
        <p:nvSpPr>
          <p:cNvPr id="4" name="TextBox 3">
            <a:extLst>
              <a:ext uri="{FF2B5EF4-FFF2-40B4-BE49-F238E27FC236}">
                <a16:creationId xmlns:a16="http://schemas.microsoft.com/office/drawing/2014/main" id="{52CCB648-154D-F182-C97A-C9D438DB9CD7}"/>
              </a:ext>
            </a:extLst>
          </p:cNvPr>
          <p:cNvSpPr txBox="1"/>
          <p:nvPr/>
        </p:nvSpPr>
        <p:spPr>
          <a:xfrm>
            <a:off x="558800" y="223520"/>
            <a:ext cx="3129280" cy="365760"/>
          </a:xfrm>
          <a:prstGeom prst="rect">
            <a:avLst/>
          </a:prstGeom>
          <a:noFill/>
        </p:spPr>
        <p:txBody>
          <a:bodyPr wrap="square" rtlCol="0">
            <a:spAutoFit/>
          </a:bodyPr>
          <a:lstStyle/>
          <a:p>
            <a:r>
              <a:rPr lang="en-IN" dirty="0"/>
              <a:t>EXECUTIVE OVERVIEW</a:t>
            </a:r>
          </a:p>
        </p:txBody>
      </p:sp>
    </p:spTree>
    <p:extLst>
      <p:ext uri="{BB962C8B-B14F-4D97-AF65-F5344CB8AC3E}">
        <p14:creationId xmlns:p14="http://schemas.microsoft.com/office/powerpoint/2010/main" val="3888423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5E9525-C3CF-C79C-983B-035A8737D6DB}"/>
              </a:ext>
            </a:extLst>
          </p:cNvPr>
          <p:cNvPicPr>
            <a:picLocks noChangeAspect="1"/>
          </p:cNvPicPr>
          <p:nvPr/>
        </p:nvPicPr>
        <p:blipFill>
          <a:blip r:embed="rId2"/>
          <a:stretch>
            <a:fillRect/>
          </a:stretch>
        </p:blipFill>
        <p:spPr>
          <a:xfrm>
            <a:off x="962660" y="663972"/>
            <a:ext cx="10591800" cy="5943600"/>
          </a:xfrm>
          <a:prstGeom prst="rect">
            <a:avLst/>
          </a:prstGeom>
        </p:spPr>
      </p:pic>
      <p:sp>
        <p:nvSpPr>
          <p:cNvPr id="4" name="TextBox 3">
            <a:extLst>
              <a:ext uri="{FF2B5EF4-FFF2-40B4-BE49-F238E27FC236}">
                <a16:creationId xmlns:a16="http://schemas.microsoft.com/office/drawing/2014/main" id="{1DF9C325-7FDA-B59E-6282-F93DF633A761}"/>
              </a:ext>
            </a:extLst>
          </p:cNvPr>
          <p:cNvSpPr txBox="1"/>
          <p:nvPr/>
        </p:nvSpPr>
        <p:spPr>
          <a:xfrm>
            <a:off x="497840" y="294640"/>
            <a:ext cx="3373120" cy="369332"/>
          </a:xfrm>
          <a:prstGeom prst="rect">
            <a:avLst/>
          </a:prstGeom>
          <a:noFill/>
        </p:spPr>
        <p:txBody>
          <a:bodyPr wrap="square" rtlCol="0">
            <a:spAutoFit/>
          </a:bodyPr>
          <a:lstStyle/>
          <a:p>
            <a:r>
              <a:rPr lang="en-IN" dirty="0"/>
              <a:t>RISK ANALYSIS</a:t>
            </a:r>
          </a:p>
        </p:txBody>
      </p:sp>
    </p:spTree>
    <p:extLst>
      <p:ext uri="{BB962C8B-B14F-4D97-AF65-F5344CB8AC3E}">
        <p14:creationId xmlns:p14="http://schemas.microsoft.com/office/powerpoint/2010/main" val="2613312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2112D2-764C-DBC5-934A-4D4FC4E9C58E}"/>
              </a:ext>
            </a:extLst>
          </p:cNvPr>
          <p:cNvPicPr>
            <a:picLocks noChangeAspect="1"/>
          </p:cNvPicPr>
          <p:nvPr/>
        </p:nvPicPr>
        <p:blipFill>
          <a:blip r:embed="rId2"/>
          <a:stretch>
            <a:fillRect/>
          </a:stretch>
        </p:blipFill>
        <p:spPr>
          <a:xfrm>
            <a:off x="614362" y="326390"/>
            <a:ext cx="10658475" cy="5981700"/>
          </a:xfrm>
          <a:prstGeom prst="rect">
            <a:avLst/>
          </a:prstGeom>
        </p:spPr>
      </p:pic>
    </p:spTree>
    <p:extLst>
      <p:ext uri="{BB962C8B-B14F-4D97-AF65-F5344CB8AC3E}">
        <p14:creationId xmlns:p14="http://schemas.microsoft.com/office/powerpoint/2010/main" val="3491882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159421-90F7-DB48-0A33-AA7B30DF6033}"/>
              </a:ext>
            </a:extLst>
          </p:cNvPr>
          <p:cNvSpPr txBox="1"/>
          <p:nvPr/>
        </p:nvSpPr>
        <p:spPr>
          <a:xfrm>
            <a:off x="894080" y="426720"/>
            <a:ext cx="10474960" cy="5632311"/>
          </a:xfrm>
          <a:prstGeom prst="rect">
            <a:avLst/>
          </a:prstGeom>
          <a:noFill/>
        </p:spPr>
        <p:txBody>
          <a:bodyPr wrap="square" rtlCol="0">
            <a:spAutoFit/>
          </a:bodyPr>
          <a:lstStyle/>
          <a:p>
            <a:r>
              <a:rPr lang="en-IN" b="1" dirty="0"/>
              <a:t>Smart Financial Assistant</a:t>
            </a:r>
          </a:p>
          <a:p>
            <a:pPr marL="263525" algn="just"/>
            <a:r>
              <a:rPr lang="en-IN" dirty="0"/>
              <a:t>A Smart Financial Data Assistant prototype was developed to help users interact with the dataset using natural language queries. The assistant supports summary, aggregation, filtering, and analytical questions while providing clear explanations and business insights.</a:t>
            </a:r>
          </a:p>
          <a:p>
            <a:r>
              <a:rPr lang="en-IN" b="1" dirty="0"/>
              <a:t>Example Questions</a:t>
            </a:r>
          </a:p>
          <a:p>
            <a:pPr marL="263525" algn="just"/>
            <a:r>
              <a:rPr lang="en-IN" dirty="0"/>
              <a:t>Which loan purpose is most common?</a:t>
            </a:r>
          </a:p>
          <a:p>
            <a:pPr marL="263525" algn="just"/>
            <a:r>
              <a:rPr lang="en-IN" dirty="0"/>
              <a:t>What is the average credit amount by housing type?</a:t>
            </a:r>
          </a:p>
          <a:p>
            <a:pPr marL="263525" algn="just"/>
            <a:r>
              <a:rPr lang="en-IN" dirty="0"/>
              <a:t>Which age group contains the most customers?</a:t>
            </a:r>
          </a:p>
          <a:p>
            <a:pPr marL="263525" algn="just"/>
            <a:r>
              <a:rPr lang="en-IN" dirty="0"/>
              <a:t>Do larger loans generally have longer repayment periods?</a:t>
            </a:r>
          </a:p>
          <a:p>
            <a:r>
              <a:rPr lang="en-IN" b="1" dirty="0"/>
              <a:t>Example Response</a:t>
            </a:r>
          </a:p>
          <a:p>
            <a:pPr marL="893763" indent="-630238" defTabSz="263525"/>
            <a:r>
              <a:rPr lang="en-IN" dirty="0"/>
              <a:t>Question:</a:t>
            </a:r>
            <a:br>
              <a:rPr lang="en-IN" dirty="0"/>
            </a:br>
            <a:r>
              <a:rPr lang="en-IN" dirty="0"/>
              <a:t>	Which housing category has the highest financial exposure?</a:t>
            </a:r>
          </a:p>
          <a:p>
            <a:pPr marL="893763" indent="-630238" defTabSz="263525"/>
            <a:r>
              <a:rPr lang="en-IN" dirty="0"/>
              <a:t>Answer:</a:t>
            </a:r>
            <a:br>
              <a:rPr lang="en-IN" dirty="0"/>
            </a:br>
            <a:r>
              <a:rPr lang="en-IN" dirty="0"/>
              <a:t>Customers with free housing exhibit higher average credit amounts and longer repayment durations compared to other housing categories.</a:t>
            </a:r>
          </a:p>
          <a:p>
            <a:pPr marL="893763"/>
            <a:r>
              <a:rPr lang="en-IN" dirty="0"/>
              <a:t>Data Used:</a:t>
            </a:r>
            <a:br>
              <a:rPr lang="en-IN" dirty="0"/>
            </a:br>
            <a:r>
              <a:rPr lang="en-IN" dirty="0"/>
              <a:t>Housing, Credit Amount, Duration</a:t>
            </a:r>
          </a:p>
          <a:p>
            <a:pPr marL="893763"/>
            <a:r>
              <a:rPr lang="en-IN" dirty="0"/>
              <a:t>Business Impact:</a:t>
            </a:r>
            <a:br>
              <a:rPr lang="en-IN" dirty="0"/>
            </a:br>
            <a:r>
              <a:rPr lang="en-IN" dirty="0"/>
              <a:t>This segment may require additional monitoring due to higher financial exposure.</a:t>
            </a:r>
          </a:p>
          <a:p>
            <a:endParaRPr lang="en-IN" dirty="0"/>
          </a:p>
        </p:txBody>
      </p:sp>
    </p:spTree>
    <p:extLst>
      <p:ext uri="{BB962C8B-B14F-4D97-AF65-F5344CB8AC3E}">
        <p14:creationId xmlns:p14="http://schemas.microsoft.com/office/powerpoint/2010/main" val="3948636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A3D981-B37A-6C48-7C94-01D244FD3C37}"/>
              </a:ext>
            </a:extLst>
          </p:cNvPr>
          <p:cNvSpPr txBox="1"/>
          <p:nvPr/>
        </p:nvSpPr>
        <p:spPr>
          <a:xfrm>
            <a:off x="721360" y="762000"/>
            <a:ext cx="9845040" cy="3970318"/>
          </a:xfrm>
          <a:prstGeom prst="rect">
            <a:avLst/>
          </a:prstGeom>
          <a:noFill/>
        </p:spPr>
        <p:txBody>
          <a:bodyPr wrap="square" rtlCol="0">
            <a:spAutoFit/>
          </a:bodyPr>
          <a:lstStyle/>
          <a:p>
            <a:pPr algn="just"/>
            <a:r>
              <a:rPr lang="en-IN" b="1" dirty="0"/>
              <a:t>Smart Financial Assistant Approach</a:t>
            </a:r>
          </a:p>
          <a:p>
            <a:pPr marL="447675" algn="just"/>
            <a:r>
              <a:rPr lang="en-IN" dirty="0"/>
              <a:t>A Smart Financial Data Assistant was developed to help users explore the dataset using simple English questions. The assistant supports summary, aggregation, filtering, and analytical queries while providing structured responses, business context, and explanations of the data used to generate insights.</a:t>
            </a:r>
          </a:p>
          <a:p>
            <a:pPr algn="just"/>
            <a:r>
              <a:rPr lang="en-IN" b="1" dirty="0"/>
              <a:t>Actionable Recommendations</a:t>
            </a:r>
          </a:p>
          <a:p>
            <a:pPr marL="447675" algn="just"/>
            <a:r>
              <a:rPr lang="en-IN" dirty="0"/>
              <a:t>Closely monitor customers requesting high-value loans with longer repayment durations.</a:t>
            </a:r>
          </a:p>
          <a:p>
            <a:pPr marL="447675" algn="just"/>
            <a:r>
              <a:rPr lang="en-IN" dirty="0"/>
              <a:t>Improve data collection by including additional customer information such as income, repayment history, and credit performance.</a:t>
            </a:r>
          </a:p>
          <a:p>
            <a:pPr marL="447675" algn="just"/>
            <a:r>
              <a:rPr lang="en-IN" dirty="0"/>
              <a:t>Regularly review high-volume loan categories to manage portfolio concentration and financial exposure.</a:t>
            </a:r>
          </a:p>
          <a:p>
            <a:pPr marL="447675" algn="just"/>
            <a:r>
              <a:rPr lang="en-IN" dirty="0"/>
              <a:t>Use interactive dashboards and AI-assisted analytics to support faster and more informed business decisions.</a:t>
            </a:r>
          </a:p>
          <a:p>
            <a:pPr algn="just"/>
            <a:endParaRPr lang="en-IN" dirty="0"/>
          </a:p>
        </p:txBody>
      </p:sp>
    </p:spTree>
    <p:extLst>
      <p:ext uri="{BB962C8B-B14F-4D97-AF65-F5344CB8AC3E}">
        <p14:creationId xmlns:p14="http://schemas.microsoft.com/office/powerpoint/2010/main" val="3351609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5103F1-AF12-7F2C-E006-3D2160B492A9}"/>
              </a:ext>
            </a:extLst>
          </p:cNvPr>
          <p:cNvSpPr txBox="1"/>
          <p:nvPr/>
        </p:nvSpPr>
        <p:spPr>
          <a:xfrm>
            <a:off x="1178560" y="629920"/>
            <a:ext cx="10048240" cy="2308324"/>
          </a:xfrm>
          <a:prstGeom prst="rect">
            <a:avLst/>
          </a:prstGeom>
          <a:noFill/>
        </p:spPr>
        <p:txBody>
          <a:bodyPr wrap="square" rtlCol="0">
            <a:spAutoFit/>
          </a:bodyPr>
          <a:lstStyle/>
          <a:p>
            <a:r>
              <a:rPr lang="en-IN" b="1" dirty="0"/>
              <a:t>Enterprise Product Vision</a:t>
            </a:r>
            <a:br>
              <a:rPr lang="en-IN" b="1" dirty="0"/>
            </a:br>
            <a:br>
              <a:rPr lang="en-IN" b="1" dirty="0"/>
            </a:br>
            <a:endParaRPr lang="en-IN" b="1" dirty="0"/>
          </a:p>
          <a:p>
            <a:pPr marL="538163" indent="-538163" algn="just">
              <a:tabLst>
                <a:tab pos="92075" algn="l"/>
              </a:tabLst>
            </a:pPr>
            <a:r>
              <a:rPr lang="en-IN" dirty="0"/>
              <a:t>		This solution can be expanded into an enterprise-grade platform by integrating live financial data, predictive risk models, and AI-powered analytics. Future enhancements could include real-time monitoring, automated risk alerts, and conversational business intelligence capabilities for decision-makers.</a:t>
            </a:r>
          </a:p>
          <a:p>
            <a:pPr algn="just"/>
            <a:endParaRPr lang="en-IN" dirty="0"/>
          </a:p>
        </p:txBody>
      </p:sp>
    </p:spTree>
    <p:extLst>
      <p:ext uri="{BB962C8B-B14F-4D97-AF65-F5344CB8AC3E}">
        <p14:creationId xmlns:p14="http://schemas.microsoft.com/office/powerpoint/2010/main" val="31698651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1062</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Amdocs – Data Analyst (Entry Level) Assignment</vt:lpstr>
      <vt:lpstr>Project Overview &amp; Deliverables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Shrikant Khade</dc:creator>
  <cp:lastModifiedBy>Shrikant Khade</cp:lastModifiedBy>
  <cp:revision>1</cp:revision>
  <dcterms:created xsi:type="dcterms:W3CDTF">2026-06-15T16:06:32Z</dcterms:created>
  <dcterms:modified xsi:type="dcterms:W3CDTF">2026-06-15T16:26:12Z</dcterms:modified>
</cp:coreProperties>
</file>